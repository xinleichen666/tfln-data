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3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256" r:id="rId3"/>
    <p:sldId id="257" r:id="rId5"/>
    <p:sldId id="258" r:id="rId6"/>
    <p:sldId id="285" r:id="rId51"/>
    <p:sldId id="286" r:id="rId52"/>
    <p:sldId id="287" r:id="rId53"/>
    <p:sldId id="288" r:id="rId54"/>
    <p:sldId id="289" r:id="rId55"/>
    <p:sldId id="290" r:id="rId56"/>
    <p:sldId id="259" r:id="rId11"/>
    <p:sldId id="291" r:id="rId57"/>
    <p:sldId id="292" r:id="rId58"/>
    <p:sldId id="293" r:id="rId59"/>
    <p:sldId id="294" r:id="rId60"/>
    <p:sldId id="260" r:id="rId16"/>
    <p:sldId id="295" r:id="rId61"/>
    <p:sldId id="296" r:id="rId62"/>
    <p:sldId id="297" r:id="rId63"/>
    <p:sldId id="298" r:id="rId64"/>
    <p:sldId id="299" r:id="rId65"/>
    <p:sldId id="300" r:id="rId66"/>
    <p:sldId id="301" r:id="rId67"/>
    <p:sldId id="261" r:id="rId21"/>
    <p:sldId id="302" r:id="rId68"/>
    <p:sldId id="303" r:id="rId69"/>
    <p:sldId id="304" r:id="rId70"/>
    <p:sldId id="305" r:id="rId71"/>
    <p:sldId id="262" r:id="rId27"/>
  </p:sldIdLst>
  <p:sldSz cx="12192000" cy="6858000"/>
  <p:notesSz cx="6858000" cy="9144000"/>
  <p:embeddedFontLst>
    <p:embeddedFont>
      <p:font typeface="方正风雅宋简体" panose="02000000000000000000" pitchFamily="2" charset="-122"/>
      <p:regular r:id="rId36"/>
    </p:embeddedFont>
    <p:embeddedFont>
      <p:font typeface="方正黑体简体" panose="03000509000000000000" pitchFamily="65" charset="-122"/>
      <p:regular r:id="rId37"/>
    </p:embeddedFont>
    <p:embeddedFont>
      <p:font typeface="微软雅黑" panose="020B0503020204020204" pitchFamily="34" charset="-122"/>
      <p:regular r:id="rId38"/>
    </p:embeddedFont>
    <p:embeddedFont>
      <p:font typeface="思源黑体 CN Light" panose="020B0300000000000000" pitchFamily="34" charset="-128"/>
      <p:regular r:id="rId39"/>
    </p:embeddedFont>
    <p:embeddedFont>
      <p:font typeface="方正兰亭粗黑简体" panose="02000000000000000000" pitchFamily="2" charset="-122"/>
      <p:regular r:id="rId40"/>
    </p:embeddedFont>
    <p:embeddedFont>
      <p:font typeface="Impact" panose="020B0806030902050204" pitchFamily="34" charset="0"/>
      <p:regular r:id="rId41"/>
    </p:embeddedFont>
    <p:embeddedFont>
      <p:font typeface="Calibri" panose="020F0502020204030204" charset="0"/>
      <p:regular r:id="rId42"/>
      <p:bold r:id="rId43"/>
      <p:italic r:id="rId44"/>
      <p:boldItalic r:id="rId45"/>
    </p:embeddedFont>
    <p:embeddedFont>
      <p:font typeface="Calibri Light" panose="020F0302020204030204" charset="0"/>
      <p:regular r:id="rId46"/>
      <p:italic r:id="rId47"/>
    </p:embeddedFont>
    <p:embeddedFont>
      <p:font typeface="Impact" panose="020B0806030902050204"/>
      <p:regular r:id="rId48"/>
    </p:embeddedFont>
    <p:embeddedFont>
      <p:font typeface="思源黑体 CN Light" panose="020B0300000000000000" pitchFamily="34" charset="-122"/>
      <p:regular r:id="rId49"/>
    </p:embeddedFont>
  </p:embeddedFontLst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主要内容" id="{F6D2D9D7-C98B-4EF6-AE57-9557164E4B0A}">
          <p14:sldIdLst>
            <p14:sldId id="256"/>
            <p14:sldId id="257"/>
            <p14:sldId id="258"/>
            <p14:sldId id="267"/>
            <p14:sldId id="263"/>
            <p14:sldId id="265"/>
            <p14:sldId id="266"/>
            <p14:sldId id="259"/>
            <p14:sldId id="268"/>
            <p14:sldId id="269"/>
            <p14:sldId id="270"/>
            <p14:sldId id="271"/>
            <p14:sldId id="260"/>
            <p14:sldId id="272"/>
            <p14:sldId id="274"/>
            <p14:sldId id="275"/>
            <p14:sldId id="276"/>
            <p14:sldId id="261"/>
            <p14:sldId id="277"/>
            <p14:sldId id="278"/>
            <p14:sldId id="279"/>
            <p14:sldId id="280"/>
            <p14:sldId id="264"/>
            <p14:sldId id="262"/>
          </p14:sldIdLst>
        </p14:section>
        <p14:section name="答辩攻略" id="{80813210-245E-474C-8D2C-4534AFAB3316}">
          <p14:sldIdLst>
            <p14:sldId id="281"/>
            <p14:sldId id="282"/>
            <p14:sldId id="283"/>
            <p14:sldId id="284"/>
          </p14:sldIdLst>
        </p14:section>
        <p14:section name="使用手册" id="{9BE87171-3EDC-493B-8680-1A45C4D9239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A5D"/>
    <a:srgbClr val="B53132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330" y="66"/>
      </p:cViewPr>
      <p:guideLst>
        <p:guide orient="horz" pos="219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16" Type="http://schemas.openxmlformats.org/officeDocument/2006/relationships/slide" Target="slides/slide13.xml"/><Relationship Id="rId21" Type="http://schemas.openxmlformats.org/officeDocument/2006/relationships/slide" Target="slides/slide18.xml"/><Relationship Id="rId27" Type="http://schemas.openxmlformats.org/officeDocument/2006/relationships/slide" Target="slides/slide24.xml"/><Relationship Id="rId32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ableStyles" Target="tableStyles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Relationship Id="rId47" Type="http://schemas.openxmlformats.org/officeDocument/2006/relationships/font" Target="fonts/font12.fntdata"/><Relationship Id="rId48" Type="http://schemas.openxmlformats.org/officeDocument/2006/relationships/font" Target="fonts/font13.fntdata"/><Relationship Id="rId49" Type="http://schemas.openxmlformats.org/officeDocument/2006/relationships/font" Target="fonts/font14.fntdata"/><Relationship Id="rId50" Type="http://schemas.openxmlformats.org/officeDocument/2006/relationships/tags" Target="tags/tag17.xml"/><Relationship Id="rId51" Type="http://schemas.openxmlformats.org/officeDocument/2006/relationships/slide" Target="slides/slide29.xml"/><Relationship Id="rId52" Type="http://schemas.openxmlformats.org/officeDocument/2006/relationships/slide" Target="slides/slide30.xml"/><Relationship Id="rId53" Type="http://schemas.openxmlformats.org/officeDocument/2006/relationships/slide" Target="slides/slide31.xml"/><Relationship Id="rId54" Type="http://schemas.openxmlformats.org/officeDocument/2006/relationships/slide" Target="slides/slide32.xml"/><Relationship Id="rId55" Type="http://schemas.openxmlformats.org/officeDocument/2006/relationships/slide" Target="slides/slide33.xml"/><Relationship Id="rId56" Type="http://schemas.openxmlformats.org/officeDocument/2006/relationships/slide" Target="slides/slide34.xml"/><Relationship Id="rId57" Type="http://schemas.openxmlformats.org/officeDocument/2006/relationships/slide" Target="slides/slide35.xml"/><Relationship Id="rId58" Type="http://schemas.openxmlformats.org/officeDocument/2006/relationships/slide" Target="slides/slide36.xml"/><Relationship Id="rId59" Type="http://schemas.openxmlformats.org/officeDocument/2006/relationships/slide" Target="slides/slide37.xml"/><Relationship Id="rId60" Type="http://schemas.openxmlformats.org/officeDocument/2006/relationships/slide" Target="slides/slide38.xml"/><Relationship Id="rId61" Type="http://schemas.openxmlformats.org/officeDocument/2006/relationships/slide" Target="slides/slide39.xml"/><Relationship Id="rId62" Type="http://schemas.openxmlformats.org/officeDocument/2006/relationships/slide" Target="slides/slide40.xml"/><Relationship Id="rId63" Type="http://schemas.openxmlformats.org/officeDocument/2006/relationships/slide" Target="slides/slide41.xml"/><Relationship Id="rId64" Type="http://schemas.openxmlformats.org/officeDocument/2006/relationships/slide" Target="slides/slide42.xml"/><Relationship Id="rId65" Type="http://schemas.openxmlformats.org/officeDocument/2006/relationships/slide" Target="slides/slide43.xml"/><Relationship Id="rId66" Type="http://schemas.openxmlformats.org/officeDocument/2006/relationships/slide" Target="slides/slide44.xml"/><Relationship Id="rId67" Type="http://schemas.openxmlformats.org/officeDocument/2006/relationships/slide" Target="slides/slide45.xml"/><Relationship Id="rId68" Type="http://schemas.openxmlformats.org/officeDocument/2006/relationships/slide" Target="slides/slide46.xml"/><Relationship Id="rId69" Type="http://schemas.openxmlformats.org/officeDocument/2006/relationships/slide" Target="slides/slide47.xml"/><Relationship Id="rId70" Type="http://schemas.openxmlformats.org/officeDocument/2006/relationships/slide" Target="slides/slide48.xml"/><Relationship Id="rId71" Type="http://schemas.openxmlformats.org/officeDocument/2006/relationships/slide" Target="slides/slide4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D5A4C-0DFB-4F0F-868E-FE419C877B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0F3C9-F3DD-4291-AD83-792F0DF4329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C68A1-DC71-423D-AF53-B1392B74E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C2DD3-F322-44B9-B682-21757949A4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汇报内容分四部分：改进路线的思路、当前设计与参数、仿真结果、流片后续计划与时间安排。所有器件数字都是仿真预测。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C2DD3-F322-44B9-B682-21757949A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C2DD3-F322-44B9-B682-21757949A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C2DD3-F322-44B9-B682-21757949A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C2DD3-F322-44B9-B682-21757949A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C2DD3-F322-44B9-B682-21757949A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C2DD3-F322-44B9-B682-21757949A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Ppt</a:t>
            </a:r>
            <a:r>
              <a:rPr lang="zh-CN" altLang="en-US" dirty="0" smtClean="0"/>
              <a:t>定制</a:t>
            </a:r>
            <a:r>
              <a:rPr lang="en-US" altLang="zh-CN" dirty="0" smtClean="0"/>
              <a:t>/</a:t>
            </a:r>
            <a:r>
              <a:rPr lang="zh-CN" altLang="en-US" dirty="0" smtClean="0"/>
              <a:t>代做请加微信：</a:t>
            </a:r>
            <a:r>
              <a:rPr lang="en-US" altLang="zh-CN" smtClean="0"/>
              <a:t>18596792149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C2DD3-F322-44B9-B682-21757949A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最早的方案是双环光子分子加悬空叉指的谐振移频器，预印本草稿声称 98.3% 移频、6.7 微瓦。关键问题是驱动强度 21.3 GHz/V 是从 Shao 2019 外推借来的。10 月 16 日在本结构上做 1 V 光弹实算，只有 1.65 MHz/V，差一万多倍，方案放弃。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这一页是整条路线。八个阶段，每个阶段一个关键数字。核心转变有三个：谐振移频改成行波相位调制；单段馈电改成分段串并联配 50 欧；二维模型扩展到三维加梁加引线。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转向孔径内调制以后，先花了一个阶段让二维和三维模型给出一致结果。五个问题都是数值或设置问题，表里给了当时的数据。改完以后二维和三维频率一致到万分之一以内。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有了可信的模型以后，问题转到器件层面。最关键的是三件事：功率里电极电阻占绝大部分；低频峰是超胞折叠假象；跟 Shao 的差距主要是取向造成的，改取向提高约 220 倍，400 纳米脊再提高约 7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这张图把相位调制器阶段每一步的功率预测画在一起，对数坐标。从 6g 的 123 瓦降到现在的 3.26 毫瓦。注意这些都是仿真值，乘校准系数后是 5.5 到 17 毫瓦。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三维阶段也有几处修正：25 微米段损失太大，改成 100 微米段加 0.5 微米汇流条；周期估算改用实算斜率；梁的影响用幽灵几何确认是物理效应。下面四条是整个过程固定下来的做法。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当前设计：光波导放在叉指孔径中间，叉指平行于波导。1 毫米分成 10 段，每段 100 微米。段间隙电位依次是信号、浮空、地、浮空，相邻两段串联，共两串乘五并，直接配 50 欧。每个段间隙两侧各一根支撑梁，梁上走线引到锚区的引线轨。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截面是悬空的 X 切铌酸锂，平板 400 纳米，脊宽 1 微米、高 400 纳米。叉指是 100 纳米铝，放在脊两侧，周期 1.84 微米，七个周期里中间三个周期放波导。右边是两种截面的 TE0 模式，悬空和不悬空的有效折射率只差 0.0107。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这是仿真所用的全部参数。灰色字的衬底和引线厚度是假设值，等工艺侧给出实际参数后需要重算。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参数选择的依据：取向和脊高是二维截面上定的；段长、汇流条宽度、周期是三维模型定的；接法看输入阻抗和对段间失谐的敏感度。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仿真分四层：二维截面算压电和光模；三维分段单元加上汇流条、指端和梁；再把每段的导纳和调制系数放进馈电网络，含引线轨；最后单独算光学过渡和空气桥。右边是每一层的验证。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左图是不同段长的频域响应。段越短，汇流条和指端占比越大，主模分裂成一串小峰。100 微米段只剩一个干净主峰。右图是主峰效率随段长的变化，Shao 型同流程也有同样的损失。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左图是功率逐项计入的过程：二维 2.46 毫瓦，三维汇流条升到 3.9，优化后 2.85，加梁和引线到 3.26。右边是头条数据。等效电压 0.57 伏是匹配负载端的峰值，和文献 Vπ 定义不同，不能直接比较。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左表是工艺偏差对单段的影响：膜厚和周期主要移频率，刻蚀深度主要影响效率。右表是段间随机失谐的影响。sigma 为 1 MHz 时，两串五并功率增加 27%，全并联只增加 8%。失谐未知时用全并联保底。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光学上三项都可以忽略：悬空和普通波导之间的过渡每个 0.025 dB；空气桥离脊顶 1 微米以上看不出影响；引线主要是串联电阻，厚引线只增加 3 到 4%。唯一要注意的是普通波导段 BOX 不能小于 2 微米。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需要说明：目前没有任何实测数据，也没有流片。表里左列是仿真预测，右列是流片后要测的量。唯一用到的实验数据是 Shao 2019 的文献值，用来做模型校准。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这一页列出还没覆盖的部分。最需要工艺侧意见的是机械可行性，也就是梁和薄膜的应力、释放。其次是工艺参数，现在用的都是假设值，拿到实际值以后重算只要几分钟。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如果要加入流片，建议按这八步走。前两步是确定代工厂和班车截止日期，拿到实际工艺参数后重算。然后画版图，做成变体扫描而不是单一设计。下单以后同步准备测试平台。测完用实测的 Q 和 P pi 更新校准，再决定二轮设计。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一个设计一个版本风险太大，建议做成扫描。G1 是主设计，G2 是全并联保底，G3 周期系列找频率，G4 长度系列拆端部效应，G8 是 Shao 复刻结构，用来在同一批工艺上做校准。具体档位要看代工厂的设计规则。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测试分电学和光学。电学用 VNA 测 S11，得到谐振频率、Q 和输入阻抗。光学用边带比或 MZI 测 P pi。用长度系列拆端部效应，用无电极波导扣除光学损耗。最后用实测 Q 反推 delta n，和仿真比较，更新校准系数。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安排是建议值。十月底到十一月上旬确认工艺参数并重算；十一月中旬画版图；十一月下旬评审下单。代工周期按两到三个月假设，以代工厂为准。等待期间做端部、斜壁仿真和查新。二月到三月测试，四月更新校准并决定二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tags" Target="../tags/tag5.xml"/><Relationship Id="rId4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383135" cy="685736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上海电力大学LOGO矢量图_编号0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21545" y="425450"/>
            <a:ext cx="2214880" cy="405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2692400"/>
            <a:ext cx="12192000" cy="2159000"/>
          </a:xfrm>
          <a:prstGeom prst="rect">
            <a:avLst/>
          </a:prstGeom>
          <a:gradFill flip="none" rotWithShape="1">
            <a:gsLst>
              <a:gs pos="0">
                <a:srgbClr val="B53132"/>
              </a:gs>
              <a:gs pos="100000">
                <a:srgbClr val="DC5A5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2" t="4985" r="7595" b="7042"/>
          <a:stretch>
            <a:fillRect/>
          </a:stretch>
        </p:blipFill>
        <p:spPr>
          <a:xfrm>
            <a:off x="552450" y="819150"/>
            <a:ext cx="5086350" cy="5295900"/>
          </a:xfrm>
          <a:prstGeom prst="rect">
            <a:avLst/>
          </a:prstGeom>
        </p:spPr>
      </p:pic>
      <p:sp>
        <p:nvSpPr>
          <p:cNvPr id="12" name="图片占位符 11"/>
          <p:cNvSpPr>
            <a:spLocks noGrp="1"/>
          </p:cNvSpPr>
          <p:nvPr>
            <p:ph type="pic" sz="quarter" idx="13"/>
          </p:nvPr>
        </p:nvSpPr>
        <p:spPr>
          <a:xfrm>
            <a:off x="1790700" y="1428750"/>
            <a:ext cx="3133725" cy="415290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 descr="上海电力大学LOGO矢量图_编号00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21545" y="425450"/>
            <a:ext cx="2214880" cy="405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1892300" y="906779"/>
            <a:ext cx="2362200" cy="5321300"/>
          </a:xfrm>
          <a:prstGeom prst="roundRect">
            <a:avLst>
              <a:gd name="adj" fmla="val 10215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085" y="781540"/>
            <a:ext cx="2693515" cy="5605115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5" name="图片 4" descr="上海电力大学LOGO矢量图_编号00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21545" y="425450"/>
            <a:ext cx="2214880" cy="405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2" y="1633257"/>
            <a:ext cx="7061299" cy="4171739"/>
          </a:xfrm>
          <a:prstGeom prst="rect">
            <a:avLst/>
          </a:prstGeom>
        </p:spPr>
      </p:pic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1543050" y="1912620"/>
            <a:ext cx="5295900" cy="330708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 descr="上海电力大学LOGO矢量图_编号00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21545" y="425450"/>
            <a:ext cx="2214880" cy="405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528" y="1985926"/>
            <a:ext cx="4436945" cy="3387635"/>
          </a:xfrm>
          <a:prstGeom prst="rect">
            <a:avLst/>
          </a:prstGeom>
        </p:spPr>
      </p:pic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3990975" y="2092986"/>
            <a:ext cx="4181475" cy="222885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 descr="上海电力大学LOGO矢量图_编号00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21545" y="425450"/>
            <a:ext cx="2214880" cy="405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219" y="1044405"/>
            <a:ext cx="5439562" cy="344716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4083050" y="1225550"/>
            <a:ext cx="4025900" cy="2544763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 descr="上海电力大学LOGO矢量图_编号00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21545" y="425450"/>
            <a:ext cx="2214880" cy="405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63B7F-BEDC-44E3-891F-8E1DE67679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3269D-51BB-4135-9D7F-7CA81D2381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hemeOverride" Target="../theme/themeOverr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image" Target="../media/image1.png"/><Relationship Id="rId3" Type="http://schemas.openxmlformats.org/officeDocument/2006/relationships/themeOverride" Target="../theme/themeOverride2.xml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themeOverride" Target="../theme/themeOverride3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image" Target="../media/image8.png"/><Relationship Id="rId3" Type="http://schemas.openxmlformats.org/officeDocument/2006/relationships/themeOverride" Target="../theme/themeOverride8.xml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image" Target="../media/image8.png"/><Relationship Id="rId3" Type="http://schemas.openxmlformats.org/officeDocument/2006/relationships/themeOverride" Target="../theme/themeOverride10.xml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image" Target="../media/image8.png"/><Relationship Id="rId3" Type="http://schemas.openxmlformats.org/officeDocument/2006/relationships/themeOverride" Target="../theme/themeOverride11.xml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image" Target="../media/image2.png"/><Relationship Id="rId3" Type="http://schemas.openxmlformats.org/officeDocument/2006/relationships/themeOverride" Target="../theme/themeOverride1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45029" y="2046514"/>
            <a:ext cx="10116457" cy="2699657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" y="2046513"/>
            <a:ext cx="725714" cy="2699657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466286" y="2046512"/>
            <a:ext cx="725714" cy="2699657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666875" y="2659380"/>
            <a:ext cx="88341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4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长孔径分段馈电薄膜铌酸锂声光相位调制器</a:t>
            </a:r>
            <a:endParaRPr lang="zh-CN" altLang="en-US" sz="4400" dirty="0">
              <a:solidFill>
                <a:schemeClr val="bg1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595257" y="3657599"/>
            <a:ext cx="100148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463040" y="4134485"/>
            <a:ext cx="2926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rPr>
              <a:t>汇报：思路回顾与研究进展</a:t>
            </a:r>
            <a:endParaRPr lang="en-US" altLang="zh-CN" dirty="0" smtClean="0">
              <a:solidFill>
                <a:schemeClr val="bg1"/>
              </a:solidFill>
              <a:latin typeface="方正黑体简体" panose="03000509000000000000" pitchFamily="65" charset="-122"/>
              <a:ea typeface="方正黑体简体" panose="03000509000000000000" pitchFamily="65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12995" y="4134485"/>
            <a:ext cx="1847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rPr>
              <a:t>汇报人：陈鑫磊</a:t>
            </a:r>
            <a:endParaRPr lang="zh-CN" altLang="en-US" dirty="0">
              <a:solidFill>
                <a:schemeClr val="bg1"/>
              </a:solidFill>
              <a:latin typeface="方正黑体简体" panose="03000509000000000000" pitchFamily="65" charset="-122"/>
              <a:ea typeface="方正黑体简体" panose="03000509000000000000" pitchFamily="65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91095" y="4134485"/>
            <a:ext cx="1924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rPr>
              <a:t>日期：2026.10</a:t>
            </a:r>
            <a:endParaRPr lang="zh-CN" altLang="en-US" dirty="0">
              <a:solidFill>
                <a:schemeClr val="bg1"/>
              </a:solidFill>
              <a:latin typeface="方正黑体简体" panose="03000509000000000000" pitchFamily="65" charset="-122"/>
              <a:ea typeface="方正黑体简体" panose="03000509000000000000" pitchFamily="65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5868527" y="5431503"/>
            <a:ext cx="454947" cy="454947"/>
            <a:chOff x="5772150" y="5431503"/>
            <a:chExt cx="647700" cy="647700"/>
          </a:xfrm>
        </p:grpSpPr>
        <p:sp>
          <p:nvSpPr>
            <p:cNvPr id="20" name="椭圆 19"/>
            <p:cNvSpPr/>
            <p:nvPr/>
          </p:nvSpPr>
          <p:spPr>
            <a:xfrm>
              <a:off x="5772150" y="543150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ight-arrowhead_45093"/>
            <p:cNvSpPr>
              <a:spLocks noChangeAspect="1"/>
            </p:cNvSpPr>
            <p:nvPr/>
          </p:nvSpPr>
          <p:spPr bwMode="auto">
            <a:xfrm rot="5400000">
              <a:off x="5989368" y="5576740"/>
              <a:ext cx="213265" cy="357231"/>
            </a:xfrm>
            <a:custGeom>
              <a:avLst/>
              <a:gdLst>
                <a:gd name="T0" fmla="*/ 225 w 242"/>
                <a:gd name="T1" fmla="*/ 241 h 406"/>
                <a:gd name="T2" fmla="*/ 100 w 242"/>
                <a:gd name="T3" fmla="*/ 387 h 406"/>
                <a:gd name="T4" fmla="*/ 60 w 242"/>
                <a:gd name="T5" fmla="*/ 406 h 406"/>
                <a:gd name="T6" fmla="*/ 25 w 242"/>
                <a:gd name="T7" fmla="*/ 394 h 406"/>
                <a:gd name="T8" fmla="*/ 19 w 242"/>
                <a:gd name="T9" fmla="*/ 318 h 406"/>
                <a:gd name="T10" fmla="*/ 114 w 242"/>
                <a:gd name="T11" fmla="*/ 206 h 406"/>
                <a:gd name="T12" fmla="*/ 19 w 242"/>
                <a:gd name="T13" fmla="*/ 94 h 406"/>
                <a:gd name="T14" fmla="*/ 25 w 242"/>
                <a:gd name="T15" fmla="*/ 19 h 406"/>
                <a:gd name="T16" fmla="*/ 100 w 242"/>
                <a:gd name="T17" fmla="*/ 25 h 406"/>
                <a:gd name="T18" fmla="*/ 225 w 242"/>
                <a:gd name="T19" fmla="*/ 172 h 406"/>
                <a:gd name="T20" fmla="*/ 225 w 242"/>
                <a:gd name="T21" fmla="*/ 241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2" h="406">
                  <a:moveTo>
                    <a:pt x="225" y="241"/>
                  </a:moveTo>
                  <a:lnTo>
                    <a:pt x="100" y="387"/>
                  </a:lnTo>
                  <a:cubicBezTo>
                    <a:pt x="90" y="400"/>
                    <a:pt x="75" y="406"/>
                    <a:pt x="60" y="406"/>
                  </a:cubicBezTo>
                  <a:cubicBezTo>
                    <a:pt x="48" y="406"/>
                    <a:pt x="35" y="402"/>
                    <a:pt x="25" y="394"/>
                  </a:cubicBezTo>
                  <a:cubicBezTo>
                    <a:pt x="3" y="375"/>
                    <a:pt x="0" y="341"/>
                    <a:pt x="19" y="318"/>
                  </a:cubicBezTo>
                  <a:lnTo>
                    <a:pt x="114" y="206"/>
                  </a:lnTo>
                  <a:lnTo>
                    <a:pt x="19" y="94"/>
                  </a:lnTo>
                  <a:cubicBezTo>
                    <a:pt x="0" y="71"/>
                    <a:pt x="3" y="38"/>
                    <a:pt x="25" y="19"/>
                  </a:cubicBezTo>
                  <a:cubicBezTo>
                    <a:pt x="48" y="0"/>
                    <a:pt x="81" y="2"/>
                    <a:pt x="100" y="25"/>
                  </a:cubicBezTo>
                  <a:lnTo>
                    <a:pt x="225" y="172"/>
                  </a:lnTo>
                  <a:cubicBezTo>
                    <a:pt x="242" y="192"/>
                    <a:pt x="242" y="221"/>
                    <a:pt x="225" y="241"/>
                  </a:cubicBezTo>
                  <a:close/>
                </a:path>
              </a:pathLst>
            </a:custGeom>
            <a:solidFill>
              <a:srgbClr val="B53132"/>
            </a:solidFill>
            <a:ln>
              <a:noFill/>
            </a:ln>
          </p:spPr>
        </p:sp>
      </p:grpSp>
      <p:pic>
        <p:nvPicPr>
          <p:cNvPr id="4" name="图片 3" descr="上海电力大学LOGO矢量图_编号0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8480" y="634365"/>
            <a:ext cx="3142615" cy="574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8006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本稿仅限课题组内部：仿真与方案工作稿，实测待做，无伪造数据，Fiber-Q 未下单，无流片；不得作为公开或可引用结果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1817008" y="3987910"/>
            <a:ext cx="3744540" cy="755540"/>
            <a:chOff x="1047750" y="3987910"/>
            <a:chExt cx="3744540" cy="755540"/>
          </a:xfrm>
        </p:grpSpPr>
        <p:sp>
          <p:nvSpPr>
            <p:cNvPr id="6" name="椭圆 5"/>
            <p:cNvSpPr/>
            <p:nvPr/>
          </p:nvSpPr>
          <p:spPr>
            <a:xfrm>
              <a:off x="1047750" y="3987910"/>
              <a:ext cx="755540" cy="755540"/>
            </a:xfrm>
            <a:prstGeom prst="ellipse">
              <a:avLst/>
            </a:prstGeom>
            <a:solidFill>
              <a:srgbClr val="B5313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66440" y="4134848"/>
              <a:ext cx="5181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bg1"/>
                  </a:solidFill>
                </a:rPr>
                <a:t>01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921980" y="4029731"/>
              <a:ext cx="28703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方正黑体简体" panose="03000509000000000000" pitchFamily="65" charset="-122"/>
                  <a:ea typeface="方正黑体简体" panose="03000509000000000000" pitchFamily="65" charset="-122"/>
                </a:rPr>
                <a:t>改进路线回顾</a:t>
              </a:r>
              <a:endParaRPr lang="zh-CN" altLang="en-US" sz="2400" dirty="0">
                <a:latin typeface="方正黑体简体" panose="03000509000000000000" pitchFamily="65" charset="-122"/>
                <a:ea typeface="方正黑体简体" panose="03000509000000000000" pitchFamily="65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921980" y="4400442"/>
              <a:ext cx="202157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alpha val="79000"/>
                    </a:schemeClr>
                  </a:solidFill>
                </a:rPr>
                <a:t>Route of Improvement</a:t>
              </a:r>
              <a:endParaRPr lang="zh-CN" altLang="en-US" sz="1600" dirty="0">
                <a:solidFill>
                  <a:schemeClr val="tx1">
                    <a:alpha val="79000"/>
                  </a:schemeClr>
                </a:solidFill>
              </a:endParaRPr>
            </a:p>
          </p:txBody>
        </p:sp>
      </p:grpSp>
      <p:sp>
        <p:nvSpPr>
          <p:cNvPr id="26" name="矩形 25"/>
          <p:cNvSpPr/>
          <p:nvPr userDrawn="1">
            <p:custDataLst>
              <p:tags r:id="rId1"/>
            </p:custDataLst>
          </p:nvPr>
        </p:nvSpPr>
        <p:spPr>
          <a:xfrm>
            <a:off x="0" y="-635"/>
            <a:ext cx="12191365" cy="3429635"/>
          </a:xfrm>
          <a:prstGeom prst="rect">
            <a:avLst/>
          </a:prstGeom>
          <a:blipFill dpi="0" rotWithShape="1">
            <a:blip r:embed="rId2">
              <a:alphaModFix amt="8000"/>
            </a:blip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7586437" y="3987910"/>
            <a:ext cx="3744540" cy="755540"/>
            <a:chOff x="6817179" y="4027917"/>
            <a:chExt cx="3744540" cy="755540"/>
          </a:xfrm>
        </p:grpSpPr>
        <p:sp>
          <p:nvSpPr>
            <p:cNvPr id="10" name="椭圆 9"/>
            <p:cNvSpPr/>
            <p:nvPr/>
          </p:nvSpPr>
          <p:spPr>
            <a:xfrm>
              <a:off x="6817179" y="4027917"/>
              <a:ext cx="755540" cy="755540"/>
            </a:xfrm>
            <a:prstGeom prst="ellipse">
              <a:avLst/>
            </a:prstGeom>
            <a:solidFill>
              <a:srgbClr val="B5313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935869" y="4174855"/>
              <a:ext cx="5181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bg1"/>
                  </a:solidFill>
                </a:rPr>
                <a:t>02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691409" y="4069738"/>
              <a:ext cx="28703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方正黑体简体" panose="03000509000000000000" pitchFamily="65" charset="-122"/>
                  <a:ea typeface="方正黑体简体" panose="03000509000000000000" pitchFamily="65" charset="-122"/>
                </a:rPr>
                <a:t>当前设计与参数</a:t>
              </a:r>
              <a:endParaRPr lang="zh-CN" altLang="en-US" sz="2400" dirty="0">
                <a:latin typeface="方正黑体简体" panose="03000509000000000000" pitchFamily="65" charset="-122"/>
                <a:ea typeface="方正黑体简体" panose="03000509000000000000" pitchFamily="65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691409" y="4440449"/>
              <a:ext cx="202157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alpha val="79000"/>
                    </a:schemeClr>
                  </a:solidFill>
                </a:rPr>
                <a:t>Device Design</a:t>
              </a:r>
              <a:endParaRPr lang="zh-CN" altLang="en-US" sz="1600" dirty="0">
                <a:solidFill>
                  <a:schemeClr val="tx1">
                    <a:alpha val="79000"/>
                  </a:schemeClr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817008" y="5458487"/>
            <a:ext cx="3744540" cy="755540"/>
            <a:chOff x="1047750" y="5461110"/>
            <a:chExt cx="3744540" cy="755540"/>
          </a:xfrm>
        </p:grpSpPr>
        <p:sp>
          <p:nvSpPr>
            <p:cNvPr id="14" name="椭圆 13"/>
            <p:cNvSpPr/>
            <p:nvPr/>
          </p:nvSpPr>
          <p:spPr>
            <a:xfrm>
              <a:off x="1047750" y="5461110"/>
              <a:ext cx="755540" cy="755540"/>
            </a:xfrm>
            <a:prstGeom prst="ellipse">
              <a:avLst/>
            </a:prstGeom>
            <a:solidFill>
              <a:srgbClr val="B5313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166440" y="5608048"/>
              <a:ext cx="5181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bg1"/>
                  </a:solidFill>
                </a:rPr>
                <a:t>03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921980" y="5502931"/>
              <a:ext cx="28703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方正黑体简体" panose="03000509000000000000" pitchFamily="65" charset="-122"/>
                  <a:ea typeface="方正黑体简体" panose="03000509000000000000" pitchFamily="65" charset="-122"/>
                </a:rPr>
                <a:t>仿真模型与结果</a:t>
              </a:r>
              <a:endParaRPr lang="zh-CN" altLang="en-US" sz="2400" dirty="0">
                <a:latin typeface="方正黑体简体" panose="03000509000000000000" pitchFamily="65" charset="-122"/>
                <a:ea typeface="方正黑体简体" panose="03000509000000000000" pitchFamily="65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921980" y="5873642"/>
              <a:ext cx="202157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alpha val="79000"/>
                    </a:schemeClr>
                  </a:solidFill>
                </a:rPr>
                <a:t>Simulation Results</a:t>
              </a:r>
              <a:endParaRPr lang="zh-CN" altLang="en-US" sz="1600" dirty="0">
                <a:solidFill>
                  <a:schemeClr val="tx1">
                    <a:alpha val="79000"/>
                  </a:schemeClr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586437" y="5458487"/>
            <a:ext cx="3744540" cy="755540"/>
            <a:chOff x="6817179" y="5495871"/>
            <a:chExt cx="3744540" cy="755540"/>
          </a:xfrm>
        </p:grpSpPr>
        <p:sp>
          <p:nvSpPr>
            <p:cNvPr id="18" name="椭圆 17"/>
            <p:cNvSpPr/>
            <p:nvPr/>
          </p:nvSpPr>
          <p:spPr>
            <a:xfrm>
              <a:off x="6817179" y="5495871"/>
              <a:ext cx="755540" cy="755540"/>
            </a:xfrm>
            <a:prstGeom prst="ellipse">
              <a:avLst/>
            </a:prstGeom>
            <a:solidFill>
              <a:srgbClr val="B5313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935869" y="5642809"/>
              <a:ext cx="5181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bg1"/>
                  </a:solidFill>
                </a:rPr>
                <a:t>04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691409" y="5537692"/>
              <a:ext cx="28703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方正黑体简体" panose="03000509000000000000" pitchFamily="65" charset="-122"/>
                  <a:ea typeface="方正黑体简体" panose="03000509000000000000" pitchFamily="65" charset="-122"/>
                </a:rPr>
                <a:t>流片与时间安排</a:t>
              </a:r>
              <a:endParaRPr lang="zh-CN" altLang="en-US" sz="2400" dirty="0">
                <a:latin typeface="方正黑体简体" panose="03000509000000000000" pitchFamily="65" charset="-122"/>
                <a:ea typeface="方正黑体简体" panose="03000509000000000000" pitchFamily="65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691409" y="5908403"/>
              <a:ext cx="202157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alpha val="79000"/>
                    </a:schemeClr>
                  </a:solidFill>
                </a:rPr>
                <a:t>Tape-out Plan &amp; Schedule</a:t>
              </a:r>
              <a:endParaRPr lang="zh-CN" altLang="en-US" sz="1600" dirty="0">
                <a:solidFill>
                  <a:schemeClr val="tx1">
                    <a:alpha val="79000"/>
                  </a:schemeClr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4855369" y="952500"/>
            <a:ext cx="24812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 smtClean="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rPr>
              <a:t>目录</a:t>
            </a:r>
            <a:endParaRPr lang="zh-CN" altLang="en-US" sz="6600" dirty="0">
              <a:solidFill>
                <a:schemeClr val="bg1"/>
              </a:solidFill>
              <a:latin typeface="方正黑体简体" panose="03000509000000000000" pitchFamily="65" charset="-122"/>
              <a:ea typeface="方正黑体简体" panose="03000509000000000000" pitchFamily="65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05400" y="2052250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 smtClean="0">
                <a:solidFill>
                  <a:schemeClr val="bg1"/>
                </a:solidFill>
              </a:rPr>
              <a:t>CONTENT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-57785" y="-36195"/>
            <a:ext cx="12250420" cy="6363970"/>
          </a:xfrm>
          <a:prstGeom prst="rect">
            <a:avLst/>
          </a:prstGeom>
          <a:blipFill dpi="0" rotWithShape="1">
            <a:blip r:embed="rId2">
              <a:alphaModFix amt="3000"/>
            </a:blip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 rot="16200000">
            <a:off x="5829302" y="498929"/>
            <a:ext cx="533402" cy="12192001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16200000">
            <a:off x="5829298" y="-5829299"/>
            <a:ext cx="533402" cy="12192001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79141" y="2503230"/>
            <a:ext cx="55372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rgbClr val="B53132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改进路线回顾</a:t>
            </a:r>
            <a:endParaRPr lang="zh-CN" altLang="en-US" sz="4400" dirty="0">
              <a:solidFill>
                <a:srgbClr val="B53132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37197" y="3324257"/>
            <a:ext cx="3186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Route of Improvement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5537197" y="3890314"/>
            <a:ext cx="1596571" cy="464457"/>
            <a:chOff x="5537197" y="3890314"/>
            <a:chExt cx="1596571" cy="464457"/>
          </a:xfrm>
        </p:grpSpPr>
        <p:sp>
          <p:nvSpPr>
            <p:cNvPr id="7" name="圆角矩形 6"/>
            <p:cNvSpPr/>
            <p:nvPr/>
          </p:nvSpPr>
          <p:spPr>
            <a:xfrm>
              <a:off x="5537197" y="3890314"/>
              <a:ext cx="1596571" cy="46445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646057" y="3937876"/>
              <a:ext cx="1320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 smtClean="0"/>
                <a:t>PART 01</a:t>
              </a:r>
              <a:endParaRPr lang="zh-CN" altLang="en-US" sz="2000" dirty="0"/>
            </a:p>
          </p:txBody>
        </p:sp>
      </p:grpSp>
      <p:pic>
        <p:nvPicPr>
          <p:cNvPr id="12" name="图片 11" descr="默认标题__2024-01-05+14_38_09"/>
          <p:cNvPicPr>
            <a:picLocks noChangeAspect="1"/>
          </p:cNvPicPr>
          <p:nvPr/>
        </p:nvPicPr>
        <p:blipFill>
          <a:blip r:embed="rId3"/>
          <a:srcRect l="7370" t="15388" r="62667" b="31314"/>
          <a:stretch>
            <a:fillRect/>
          </a:stretch>
        </p:blipFill>
        <p:spPr>
          <a:xfrm>
            <a:off x="1600200" y="1604645"/>
            <a:ext cx="3653155" cy="3653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6200000">
            <a:off x="5829302" y="498929"/>
            <a:ext cx="533402" cy="12192001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16200000">
            <a:off x="5829298" y="-5829299"/>
            <a:ext cx="533402" cy="12192001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79141" y="2503230"/>
            <a:ext cx="55372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rgbClr val="B53132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当前设计与参数</a:t>
            </a:r>
            <a:endParaRPr lang="zh-CN" altLang="en-US" sz="4400" dirty="0">
              <a:solidFill>
                <a:srgbClr val="B53132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37197" y="3324257"/>
            <a:ext cx="3186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Device Design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5537197" y="3890314"/>
            <a:ext cx="1596571" cy="464457"/>
            <a:chOff x="5537197" y="3890314"/>
            <a:chExt cx="1596571" cy="464457"/>
          </a:xfrm>
        </p:grpSpPr>
        <p:sp>
          <p:nvSpPr>
            <p:cNvPr id="7" name="圆角矩形 6"/>
            <p:cNvSpPr/>
            <p:nvPr/>
          </p:nvSpPr>
          <p:spPr>
            <a:xfrm>
              <a:off x="5537197" y="3890314"/>
              <a:ext cx="1596571" cy="46445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646057" y="3937876"/>
              <a:ext cx="1320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 smtClean="0"/>
                <a:t>PART 02</a:t>
              </a:r>
              <a:endParaRPr lang="zh-CN" altLang="en-US" sz="2000" dirty="0"/>
            </a:p>
          </p:txBody>
        </p:sp>
      </p:grpSp>
      <p:pic>
        <p:nvPicPr>
          <p:cNvPr id="12" name="图片 11" descr="默认标题__2024-01-05+14_38_0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370" t="15388" r="62667" b="31314"/>
          <a:stretch>
            <a:fillRect/>
          </a:stretch>
        </p:blipFill>
        <p:spPr>
          <a:xfrm>
            <a:off x="1600200" y="1604645"/>
            <a:ext cx="3653155" cy="3653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6200000">
            <a:off x="5829302" y="498929"/>
            <a:ext cx="533402" cy="12192001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16200000">
            <a:off x="5829298" y="-5829299"/>
            <a:ext cx="533402" cy="12192001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79141" y="2503230"/>
            <a:ext cx="55372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rgbClr val="B53132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仿真模型与结果</a:t>
            </a:r>
            <a:endParaRPr lang="zh-CN" altLang="en-US" sz="4400" dirty="0">
              <a:solidFill>
                <a:srgbClr val="B53132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37197" y="3324257"/>
            <a:ext cx="3186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Simulation Results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5537197" y="3890314"/>
            <a:ext cx="1596571" cy="464457"/>
            <a:chOff x="5537197" y="3890314"/>
            <a:chExt cx="1596571" cy="464457"/>
          </a:xfrm>
        </p:grpSpPr>
        <p:sp>
          <p:nvSpPr>
            <p:cNvPr id="7" name="圆角矩形 6"/>
            <p:cNvSpPr/>
            <p:nvPr/>
          </p:nvSpPr>
          <p:spPr>
            <a:xfrm>
              <a:off x="5537197" y="3890314"/>
              <a:ext cx="1596571" cy="46445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646057" y="3937876"/>
              <a:ext cx="1320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 smtClean="0"/>
                <a:t>PART 03</a:t>
              </a:r>
              <a:endParaRPr lang="zh-CN" altLang="en-US" sz="2000" dirty="0"/>
            </a:p>
          </p:txBody>
        </p:sp>
      </p:grpSp>
      <p:pic>
        <p:nvPicPr>
          <p:cNvPr id="12" name="图片 11" descr="默认标题__2024-01-05+14_38_0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370" t="15388" r="62667" b="31314"/>
          <a:stretch>
            <a:fillRect/>
          </a:stretch>
        </p:blipFill>
        <p:spPr>
          <a:xfrm>
            <a:off x="1600200" y="1604645"/>
            <a:ext cx="3653155" cy="3653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6200000">
            <a:off x="5829302" y="498929"/>
            <a:ext cx="533402" cy="12192001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16200000">
            <a:off x="5829298" y="-5829299"/>
            <a:ext cx="533402" cy="12192001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79141" y="2503230"/>
            <a:ext cx="55372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rgbClr val="B53132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流片计划与时间安排</a:t>
            </a:r>
            <a:endParaRPr lang="zh-CN" altLang="en-US" sz="4400" dirty="0">
              <a:solidFill>
                <a:srgbClr val="B53132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37197" y="3324257"/>
            <a:ext cx="3186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Tape-out Plan &amp; Schedule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5537197" y="3890314"/>
            <a:ext cx="1596571" cy="464457"/>
            <a:chOff x="5537197" y="3890314"/>
            <a:chExt cx="1596571" cy="464457"/>
          </a:xfrm>
        </p:grpSpPr>
        <p:sp>
          <p:nvSpPr>
            <p:cNvPr id="7" name="圆角矩形 6"/>
            <p:cNvSpPr/>
            <p:nvPr/>
          </p:nvSpPr>
          <p:spPr>
            <a:xfrm>
              <a:off x="5537197" y="3890314"/>
              <a:ext cx="1596571" cy="46445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646057" y="3937876"/>
              <a:ext cx="1320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 smtClean="0"/>
                <a:t>PART 04</a:t>
              </a:r>
              <a:endParaRPr lang="zh-CN" altLang="en-US" sz="2000" dirty="0"/>
            </a:p>
          </p:txBody>
        </p:sp>
      </p:grpSp>
      <p:pic>
        <p:nvPicPr>
          <p:cNvPr id="12" name="图片 11" descr="默认标题__2024-01-05+14_38_0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370" t="15388" r="62667" b="31314"/>
          <a:stretch>
            <a:fillRect/>
          </a:stretch>
        </p:blipFill>
        <p:spPr>
          <a:xfrm>
            <a:off x="1600200" y="1604645"/>
            <a:ext cx="3653155" cy="3653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45029" y="2046514"/>
            <a:ext cx="10116457" cy="2699657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" y="2046513"/>
            <a:ext cx="725714" cy="2699657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466286" y="2046512"/>
            <a:ext cx="725714" cy="2699657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999343" y="2511086"/>
            <a:ext cx="81933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恳请老师批评与指正</a:t>
            </a:r>
            <a:endParaRPr lang="zh-CN" altLang="en-US" sz="6000" dirty="0">
              <a:solidFill>
                <a:schemeClr val="bg1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595257" y="3657599"/>
            <a:ext cx="100148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113644" y="4134562"/>
            <a:ext cx="236582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rPr>
              <a:t/>
            </a:r>
            <a:endParaRPr lang="en-US" altLang="zh-CN" dirty="0" smtClean="0">
              <a:solidFill>
                <a:schemeClr val="bg1"/>
              </a:solidFill>
              <a:latin typeface="方正黑体简体" panose="03000509000000000000" pitchFamily="65" charset="-122"/>
              <a:ea typeface="方正黑体简体" panose="03000509000000000000" pitchFamily="65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13086" y="4134562"/>
            <a:ext cx="236582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rPr>
              <a:t>汇报人：陈鑫磊</a:t>
            </a:r>
            <a:endParaRPr lang="en-US" altLang="zh-CN" dirty="0" smtClean="0">
              <a:solidFill>
                <a:schemeClr val="bg1"/>
              </a:solidFill>
              <a:latin typeface="方正黑体简体" panose="03000509000000000000" pitchFamily="65" charset="-122"/>
              <a:ea typeface="方正黑体简体" panose="03000509000000000000" pitchFamily="65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91186" y="4134562"/>
            <a:ext cx="236582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rPr>
              <a:t/>
            </a:r>
            <a:endParaRPr lang="zh-CN" altLang="en-US" dirty="0">
              <a:solidFill>
                <a:schemeClr val="bg1"/>
              </a:solidFill>
              <a:latin typeface="方正黑体简体" panose="03000509000000000000" pitchFamily="65" charset="-122"/>
              <a:ea typeface="方正黑体简体" panose="03000509000000000000" pitchFamily="65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5868527" y="5431503"/>
            <a:ext cx="454947" cy="454947"/>
            <a:chOff x="5772150" y="5431503"/>
            <a:chExt cx="647700" cy="647700"/>
          </a:xfrm>
        </p:grpSpPr>
        <p:sp>
          <p:nvSpPr>
            <p:cNvPr id="20" name="椭圆 19"/>
            <p:cNvSpPr/>
            <p:nvPr/>
          </p:nvSpPr>
          <p:spPr>
            <a:xfrm>
              <a:off x="5772150" y="543150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ight-arrowhead_45093"/>
            <p:cNvSpPr>
              <a:spLocks noChangeAspect="1"/>
            </p:cNvSpPr>
            <p:nvPr/>
          </p:nvSpPr>
          <p:spPr bwMode="auto">
            <a:xfrm rot="5400000">
              <a:off x="5989368" y="5576740"/>
              <a:ext cx="213265" cy="357231"/>
            </a:xfrm>
            <a:custGeom>
              <a:avLst/>
              <a:gdLst>
                <a:gd name="T0" fmla="*/ 225 w 242"/>
                <a:gd name="T1" fmla="*/ 241 h 406"/>
                <a:gd name="T2" fmla="*/ 100 w 242"/>
                <a:gd name="T3" fmla="*/ 387 h 406"/>
                <a:gd name="T4" fmla="*/ 60 w 242"/>
                <a:gd name="T5" fmla="*/ 406 h 406"/>
                <a:gd name="T6" fmla="*/ 25 w 242"/>
                <a:gd name="T7" fmla="*/ 394 h 406"/>
                <a:gd name="T8" fmla="*/ 19 w 242"/>
                <a:gd name="T9" fmla="*/ 318 h 406"/>
                <a:gd name="T10" fmla="*/ 114 w 242"/>
                <a:gd name="T11" fmla="*/ 206 h 406"/>
                <a:gd name="T12" fmla="*/ 19 w 242"/>
                <a:gd name="T13" fmla="*/ 94 h 406"/>
                <a:gd name="T14" fmla="*/ 25 w 242"/>
                <a:gd name="T15" fmla="*/ 19 h 406"/>
                <a:gd name="T16" fmla="*/ 100 w 242"/>
                <a:gd name="T17" fmla="*/ 25 h 406"/>
                <a:gd name="T18" fmla="*/ 225 w 242"/>
                <a:gd name="T19" fmla="*/ 172 h 406"/>
                <a:gd name="T20" fmla="*/ 225 w 242"/>
                <a:gd name="T21" fmla="*/ 241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2" h="406">
                  <a:moveTo>
                    <a:pt x="225" y="241"/>
                  </a:moveTo>
                  <a:lnTo>
                    <a:pt x="100" y="387"/>
                  </a:lnTo>
                  <a:cubicBezTo>
                    <a:pt x="90" y="400"/>
                    <a:pt x="75" y="406"/>
                    <a:pt x="60" y="406"/>
                  </a:cubicBezTo>
                  <a:cubicBezTo>
                    <a:pt x="48" y="406"/>
                    <a:pt x="35" y="402"/>
                    <a:pt x="25" y="394"/>
                  </a:cubicBezTo>
                  <a:cubicBezTo>
                    <a:pt x="3" y="375"/>
                    <a:pt x="0" y="341"/>
                    <a:pt x="19" y="318"/>
                  </a:cubicBezTo>
                  <a:lnTo>
                    <a:pt x="114" y="206"/>
                  </a:lnTo>
                  <a:lnTo>
                    <a:pt x="19" y="94"/>
                  </a:lnTo>
                  <a:cubicBezTo>
                    <a:pt x="0" y="71"/>
                    <a:pt x="3" y="38"/>
                    <a:pt x="25" y="19"/>
                  </a:cubicBezTo>
                  <a:cubicBezTo>
                    <a:pt x="48" y="0"/>
                    <a:pt x="81" y="2"/>
                    <a:pt x="100" y="25"/>
                  </a:cubicBezTo>
                  <a:lnTo>
                    <a:pt x="225" y="172"/>
                  </a:lnTo>
                  <a:cubicBezTo>
                    <a:pt x="242" y="192"/>
                    <a:pt x="242" y="221"/>
                    <a:pt x="225" y="241"/>
                  </a:cubicBezTo>
                  <a:close/>
                </a:path>
              </a:pathLst>
            </a:custGeom>
            <a:solidFill>
              <a:srgbClr val="B53132"/>
            </a:solidFill>
            <a:ln>
              <a:noFill/>
            </a:ln>
          </p:spPr>
        </p:sp>
      </p:grpSp>
      <p:pic>
        <p:nvPicPr>
          <p:cNvPr id="4" name="图片 3" descr="上海电力大学LOGO矢量图_编号00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48480" y="634365"/>
            <a:ext cx="3142615" cy="574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起点：谐振式声光移频器（2026.10.7–10.16）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57784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方案：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单总线双环（光子分子）+ 悬空叉指声学谐振腔，3.33 GHz，覆盖环 1 约 15% 周长</a:t>
            </a:r>
          </a:p>
          <a:p>
            <a:pPr algn="l">
              <a:spcAft>
                <a:spcPts val="8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原理：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声波驱动两超模之间跃迁，实现单边带移频（Hu 2021 耦合模理论）</a:t>
            </a:r>
          </a:p>
          <a:p>
            <a:pPr algn="l">
              <a:spcAft>
                <a:spcPts val="8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预印本草稿（10.14）声称：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移频效率 98.3%，驱动 6.7 µW，蒙特卡罗良率 96.4%</a:t>
            </a:r>
          </a:p>
          <a:p>
            <a:pPr algn="l">
              <a:spcAft>
                <a:spcPts val="8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关键假设：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驱动强度 21.3 GHz/V，由 Shao 2019 的 VπL = 0.046 V·cm 外推，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未在本结构上计算</a:t>
            </a:r>
          </a:p>
          <a:p>
            <a:pPr algn="l">
              <a:spcAft>
                <a:spcPts val="8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复现审计中已修正：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功率优势 1.3×10</a:t>
            </a:r>
            <a:r>
              <a:rPr sz="1500" b="0" baseline="30000">
                <a:solidFill>
                  <a:srgbClr val="262626"/>
                </a:solidFill>
                <a:latin typeface="微软雅黑"/>
                <a:ea typeface="微软雅黑"/>
              </a:rPr>
              <a:t>4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 → 440 → 1.4–3.7 倍；良率 96.4%（无样本）→ 94.3%；变量标反（0.75% vs 98.31%）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53132"/>
                </a:solidFill>
                <a:latin typeface="微软雅黑"/>
                <a:ea typeface="微软雅黑"/>
              </a:rPr>
              <a:t>本结构 1 V 压电 + 光弹实算（10.16）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600200"/>
          <a:ext cx="52120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487"/>
                <a:gridCol w="1413445"/>
                <a:gridCol w="185514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量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方案假设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实算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驱动强度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21.3 GHz/V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1.65 MHz/V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差距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约 1.3×10</a:t>
                      </a:r>
                      <a:r>
                        <a:rPr sz="1300" b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倍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达到原指标所需电压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约 300 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可行窗口内最好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1.58 GHz/V，约 1.2 mW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2000"/>
            </a:avLst>
          </a:prstGeom>
          <a:solidFill>
            <a:srgbClr val="F8E6E6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结论：移频器在本结构下不成立，10.16 放弃（数据保留）。教训：借来的实验标定必须在本结构上用有限元复算。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改进路线总览：从移频器到分段馈电相位调制器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DC5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① 移频器方案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37944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10.7–10.15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98.3%、6.7 µW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（基于外推）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139903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23444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DC5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② 光弹实算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37944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10.16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14884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1.65 MHz/V，差 1.3×10</a:t>
            </a:r>
            <a:r>
              <a:rPr sz="1400" b="0" baseline="30000">
                <a:solidFill>
                  <a:srgbClr val="262626"/>
                </a:solidFill>
                <a:latin typeface="微软雅黑"/>
                <a:ea typeface="微软雅黑"/>
              </a:rPr>
              <a:t>4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→ 放弃移频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139903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DC5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③ 孔径内调制预研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37944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10.16–10.21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4884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审计：排序被网格推翻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结论撤回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78240" y="139903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123444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④ 数值排查 Step 1–5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837944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10.21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4884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二维/三维一致 &lt;0.01%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周期 2.8526 µm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8328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⑤ 器件原型 6a–6e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86784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10.21–10.22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VπL ≈ 0.87 V·cm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标准脊方案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108960" y="354787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83280" y="338328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⑥ 功率与超胞 6f–6h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986784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10.22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429768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电阻占 85–99%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123 W → 2.9 W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43600" y="354787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338328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⑦ 校准与取向 6i–6j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986784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10.22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29768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Shao 取向 ×220，脊 ×7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→ 约 2.5–2.8 mW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778240" y="354787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52560" y="338328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⑧ 三维与可加工性 7–9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986784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10.22–10.23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429768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分段 + 梁 + 引线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→ 3.26 mW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2000"/>
            </a:avLst>
          </a:prstGeom>
          <a:solidFill>
            <a:srgbClr val="F8E6E6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核心转变：谐振移频 → 行波相位调制；单段馈电 → 分段串并联配 50 Ω；二维截面 → 三维分段 + 支撑梁 + 引线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数值与建模排查（Step 1–5）：先让模型可信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167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667"/>
                <a:gridCol w="3300001"/>
                <a:gridCol w="3575001"/>
                <a:gridCol w="330000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步骤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现象（当时数据）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原因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处理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Step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三维比二维频率低 1162 MHz；改二阶后仍高 230 MHz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三维一阶单元、网格粗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二阶单元并加密；早期三维结论重新核对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Step 2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二维/三维仍差约 35.6 MHz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周期不一致（2.58 vs 2.8326 µm）；二维平面应变等价于强制面外位移为 0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统一周期；改用面外扩展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Step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材料常数 c</a:t>
                      </a:r>
                      <a:r>
                        <a:rPr sz="1300" b="0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等分量相差 16–200%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二维材料张量的基矢取向错误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改用 sys2 坐标系，每次运行打印张量自检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Step 4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约 48 MHz 偏差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接地边按“相交”选择，多选了 5 条边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精确选择；二维/三维一致到 0.01% 以内，周期定为 2.8526 µm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Step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相位调制 φ/L 数值偏大 10</a:t>
                      </a:r>
                      <a:r>
                        <a:rPr sz="1300" b="0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rad/(m·V) 换 rad/(mm·V) 时乘了 1000（应乘 10</a:t>
                      </a:r>
                      <a:r>
                        <a:rPr sz="1300" b="0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-3</a:t>
                      </a:r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6a 自检发现并改正，原记录已补注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早期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压电场异常（出现两次）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漏掉压电电荷守恒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补上并加入检查项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86400"/>
            <a:ext cx="11091672" cy="548640"/>
          </a:xfrm>
          <a:prstGeom prst="roundRect">
            <a:avLst>
              <a:gd name="adj" fmla="val 12000"/>
            </a:avLst>
          </a:prstGeom>
          <a:solidFill>
            <a:srgbClr val="F8E6E6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做法固定下来：每次运行在日志里打印张量、接地边、旋转方法和单位换算，便于复核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器件层面的问题与修正（6a–6j）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16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00"/>
                <a:gridCol w="3666668"/>
                <a:gridCol w="3300001"/>
                <a:gridCol w="3025001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现象（当时数据）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原因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处理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合格判断由“合格”变为“不合格”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伙伴模按频率最近认错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按铝中能量占比 fracAl 认模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6c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沟槽脊方案光模横向泄漏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结构光学上不可行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改标准脊：平板 400 nm，缺陷胞 3 个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VπL ≈ 0.87 V·cm（首个完整器件数字）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调制参数应填 β；首轮扫描漏峰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改正后重扫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6f→6g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低频峰“好 5.8 倍”；计入电极后 L = 1 mm 主峰需 123 W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只按 Vπ 算功率，电极电阻占 85–99%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分布 RC 模型，功率一律算到 50 Ω 信号源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“亚瓦”低频峰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周期超胞能带折叠假象，对 NP 不收敛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撤回；以有限长模型为准（最低约 2.9 W）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6h_lit→6i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VπL 比 Shao 差 16–19 倍；首次校准异常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需区分模型误差与结构差距；坐标旋转 inPlane 被截断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改 general 重算 Shao 结构：本流程 Δn</a:t>
                      </a:r>
                      <a:r>
                        <a:rPr sz="1250" b="0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偏高 1.3–2.3 倍，功率需 ×1.7–5.3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6j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旧取向可用系数小；“无损匹配”0.7–1.4 Ω 配 50 Ω 不现实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结构差距；匹配假设过乐观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Shao 取向 ×220，400 nm 脊 ×7；多段串并联直接配 50 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功率预测的演变（L = 1 mm，信号源功率）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pic>
        <p:nvPicPr>
          <p:cNvPr id="6" name="Picture 5" descr="fig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7498079" cy="3749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320" y="1280160"/>
            <a:ext cx="34290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1">
                <a:solidFill>
                  <a:srgbClr val="262626"/>
                </a:solidFill>
                <a:latin typeface="微软雅黑"/>
                <a:ea typeface="微软雅黑"/>
              </a:rPr>
              <a:t>灰：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旧取向、单段或少段馈电，瓦级</a:t>
            </a:r>
          </a:p>
          <a:p>
            <a:pPr algn="l">
              <a:spcAft>
                <a:spcPts val="10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1">
                <a:solidFill>
                  <a:srgbClr val="262626"/>
                </a:solidFill>
                <a:latin typeface="微软雅黑"/>
                <a:ea typeface="微软雅黑"/>
              </a:rPr>
              <a:t>橙：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二维截面优化后（取向 + 脊高 + 串并联），约 2.5–2.8 mW</a:t>
            </a:r>
          </a:p>
          <a:p>
            <a:pPr algn="l">
              <a:spcAft>
                <a:spcPts val="10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1">
                <a:solidFill>
                  <a:srgbClr val="262626"/>
                </a:solidFill>
                <a:latin typeface="微软雅黑"/>
                <a:ea typeface="微软雅黑"/>
              </a:rPr>
              <a:t>蓝：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三维分段：汇流条与指端的损失，经段长、汇流条、周期优化回到 2.85 mW</a:t>
            </a:r>
          </a:p>
          <a:p>
            <a:pPr algn="l">
              <a:spcAft>
                <a:spcPts val="10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1">
                <a:solidFill>
                  <a:srgbClr val="262626"/>
                </a:solidFill>
                <a:latin typeface="微软雅黑"/>
                <a:ea typeface="微软雅黑"/>
              </a:rPr>
              <a:t>绿 / 红：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计入支撑梁（×1.11）和引线（+3–4%），3.26 mW</a:t>
            </a:r>
          </a:p>
          <a:p>
            <a:pPr algn="l">
              <a:spcAft>
                <a:spcPts val="10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1">
                <a:solidFill>
                  <a:srgbClr val="262626"/>
                </a:solidFill>
                <a:latin typeface="微软雅黑"/>
                <a:ea typeface="微软雅黑"/>
              </a:rPr>
              <a:t>校准后：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5.5–17 mW（系数 1.7–5.3）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2000"/>
            </a:avLst>
          </a:prstGeom>
          <a:solidFill>
            <a:srgbClr val="F8E6E6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瓦级 → 毫瓦级：主要来自取向（×220）、脊高（×7）和分段匹配，不是数值调参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三维阶段的修正（Step 7–9）与经验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167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1"/>
                <a:gridCol w="3208334"/>
                <a:gridCol w="4583335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现象（当时数据）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原因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处理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25 µm 段功率损失 2–2.6 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汇流条与指端使主模分裂成一串模式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100 µm 段 + 0.5 µm 汇流条，损失降到 1.10 倍（1 µm 汇流条有旁模并入，避开）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按 f ∝ 1/p 估周期 1.86–1.89 µm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频率不严格反比于周期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实算斜率 −1.33 MHz/nm，取 1.84 µm（3.333 GHz）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梁带来 1.11 倍，疑为网格效应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需区分数值与物理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幽灵几何对照逐位一致 → 物理效应；梁端 PML 与固定端差 &lt;1%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“校准系数与三维损失重复计算”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表述错误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两者独立，可直接相乘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77639"/>
            <a:ext cx="110642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借来的数字必须在本结构上复算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（移频器差 1.3×10</a:t>
            </a:r>
            <a:r>
              <a:rPr sz="1500" b="0" baseline="30000">
                <a:solidFill>
                  <a:srgbClr val="262626"/>
                </a:solidFill>
                <a:latin typeface="微软雅黑"/>
                <a:ea typeface="微软雅黑"/>
              </a:rPr>
              <a:t>4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 倍）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每次运行打印自检；认模按物理量（fracAl），不按频率最近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周期超胞结论用有限长核对；功率一律算到 50 Ω 信号源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用已发表结构（Shao 2019）同流程校准，把模型误差和结构差距分开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器件结构：毫米级孔径，分段串并联馈电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pic>
        <p:nvPicPr>
          <p:cNvPr id="6" name="Picture 5" descr="fig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10881360" cy="4329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1">
                <a:solidFill>
                  <a:srgbClr val="262626"/>
                </a:solidFill>
                <a:latin typeface="微软雅黑"/>
                <a:ea typeface="微软雅黑"/>
              </a:rPr>
              <a:t>行波相位调制：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声波沿晶体 Z 横穿波导传播，光沿晶体 Y 在叉指孔径内传播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1">
                <a:solidFill>
                  <a:srgbClr val="262626"/>
                </a:solidFill>
                <a:latin typeface="微软雅黑"/>
                <a:ea typeface="微软雅黑"/>
              </a:rPr>
              <a:t>分段的目的：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单段阻抗过低，分 10 段 2 串 × 5 并后输入阻抗 53–57 Ω，直接接 50 Ω 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波导截面：X 切悬空 LN，400 nm 平板 + 400 nm 脊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pic>
        <p:nvPicPr>
          <p:cNvPr id="6" name="Picture 5" descr="fig_xs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6675120" cy="146018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743200"/>
          <a:ext cx="630936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8463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取值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薄膜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 切 LN，平板 400 nm，悬空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脊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宽 1.0 µm × 高 400 nm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取向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声沿晶体 Z，TE 光沿晶体 Y（Shao 型）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叉指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铝 100 nm，周期 1.84 µm，指宽 0.25p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缺陷胞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NP = 7，中间 3 个周期放波导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波长 / 光模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1550 nm，TE0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_mo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234440"/>
            <a:ext cx="4754880" cy="1492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2880360"/>
            <a:ext cx="46634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7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悬空段 neff 1.92670；普通段（SiO</a:t>
            </a:r>
            <a:r>
              <a:rPr sz="1300" b="0" baseline="-25000">
                <a:solidFill>
                  <a:srgbClr val="262626"/>
                </a:solidFill>
                <a:latin typeface="微软雅黑"/>
                <a:ea typeface="微软雅黑"/>
              </a:rPr>
              <a:t>2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 2 µm）1.93743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模式基本约束在 LN 内；带 / 不带叉指 neff 相同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悬空段带叉指时损耗 0.00053 dB/cm（铝吸收），可忽略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设计参数总表（仿真所用值）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1671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334"/>
                <a:gridCol w="9258337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材料与取向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悬空 X 切 LN，平板 400 nm，脊高 400 nm；Shao 取向（主要利用 r</a:t>
                      </a:r>
                      <a:r>
                        <a:rPr sz="1400" b="0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33</a:t>
                      </a:r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与光弹效应）；波长 1550 nm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叉指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周期 1.84 µm（谐振 3.333 GHz），铝，指宽 0.25p，厚 100 nm；NP = 7，中间 3 个周期放波导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分段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L = 1 mm = 10 段 × 100 µm；段间隙 0.5 µm，汇流条 0.5 µm，指端间隙 0.5 µm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支撑梁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每个段间隙两侧各一根，宽 2 µm、长 6 µm；梁上 100 nm 铝走线引出信号与地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接法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 串 × 5 并；段间隙电位依次为 信号 / 浮空 / 地 / 浮空，浮空间隙不需引出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引线（假设）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锚区两侧各一对信号轨与地轨；500 nm 铝，信号轨 50 µm、间隙 10 µm、地轨 100 µm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衬底（假设）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锚区 LN 400 nm / SiO</a:t>
                      </a:r>
                      <a:r>
                        <a:rPr sz="1400" b="0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2 µm / 高阻 Si 500 µm，按无损介质处理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损耗（假设）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声学损耗因子 ηs = 5×10</a:t>
                      </a:r>
                      <a:r>
                        <a:rPr sz="1400" b="0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-4</a:t>
                      </a:r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，给出驱动 Q ≈ 2000（非测得）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关键参数的选择依据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pic>
        <p:nvPicPr>
          <p:cNvPr id="6" name="Picture 5" descr="fig_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20624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434840"/>
            <a:ext cx="4114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脊高 100 → 400 nm，PπL 明显下降，400 nm 时接近同流程 Shao 型（虚线）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0" y="1188720"/>
          <a:ext cx="6611111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673"/>
                <a:gridCol w="1285493"/>
                <a:gridCol w="413194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选择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依据（仿真）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晶体取向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Shao 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相对旧取向效率约 ×220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脊高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400 nm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相对浅脊约 ×7；同流程为 Shao 型单位长度效率的 0.77–0.87 倍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段长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100 µm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汇流条损失：25 µm 段 1.9–3.4 倍，50 µm 2.0 倍，100 µm 1.10 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汇流条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0.5 µm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0.3–0.7 µm 平滑；1 µm 附近有旁模并入，避开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周期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1.84 µm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斜率 −1.33 MHz/nm，主峰到 3.333 GHz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接法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 串 × 5 并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输入阻抗 53–57 Ω；全并联作失谐保底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2000"/>
            </a:avLst>
          </a:prstGeom>
          <a:solidFill>
            <a:srgbClr val="F8E6E6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单位长度效率没有超过 Shao 型；可主张的差别是毫米级孔径 + 分段串并联后能直接配 50 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仿真模型与验证流程（COMSOL 6.3，批处理）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二维截面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234440"/>
            <a:ext cx="3108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压电 + 光弹 + 电光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光模 TE0；周期 / 有限长</a:t>
            </a:r>
          </a:p>
        </p:txBody>
      </p:sp>
      <p:sp>
        <p:nvSpPr>
          <p:cNvPr id="8" name="Down Arrow 7"/>
          <p:cNvSpPr/>
          <p:nvPr/>
        </p:nvSpPr>
        <p:spPr>
          <a:xfrm>
            <a:off x="1691640" y="2121408"/>
            <a:ext cx="274320" cy="274320"/>
          </a:xfrm>
          <a:prstGeom prst="down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三维分段单元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423160"/>
            <a:ext cx="3108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沿波导周期边界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含汇流条、指端、梁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691640" y="3310128"/>
            <a:ext cx="274320" cy="274320"/>
          </a:xfrm>
          <a:prstGeom prst="down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馈电网络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3611880"/>
            <a:ext cx="3108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段导纳 + 引线轨 RLC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节点分析，50 Ω 源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691640" y="4498848"/>
            <a:ext cx="274320" cy="274320"/>
          </a:xfrm>
          <a:prstGeom prst="down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80060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光学校核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800600"/>
            <a:ext cx="3108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模式匹配（过渡）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空气桥吸收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92240" y="1234440"/>
          <a:ext cx="514807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49631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验证项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二维 / 三维频率一致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&lt; 0.01%（Step 4）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三维无汇流条 vs 二维有限长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PπL 2.49 vs 2.43（×10</a:t>
                      </a:r>
                      <a:r>
                        <a:rPr sz="1300" b="0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-6</a:t>
                      </a:r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W·m）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同流程重算 Shao 2019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Δn</a:t>
                      </a:r>
                      <a:r>
                        <a:rPr sz="1300" b="0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偏高 1.3–2.3 倍 → 校准 ×1.7–5.3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网格对照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沿波导 1.5 → 1.0 µm 变化 0.8%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幽灵几何对照（梁）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逐位一致，梁效应为物理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梁端 PML vs 固定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差 &lt; 1%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光学过渡粗 / 细网格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五位有效数字相同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三维分段：汇流条与指端的损失随段长减小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pic>
        <p:nvPicPr>
          <p:cNvPr id="6" name="Picture 5" descr="fig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7315200" cy="29464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55279" y="1234440"/>
          <a:ext cx="368503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0759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配置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相对无汇流条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25 µm 段，汇流条 2 µm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1.9–3.4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50 µm 段，汇流条 2 µm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2.0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100 µm 段，汇流条 2 µm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100 µm，汇流条 0.5 µm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1.11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+ 周期 1.84 µm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+ 支撑梁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1.22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汇流条与指端打破沿波导的均匀性，主模分裂成间距 0.3–1 MHz 的一串模式，Δn</a:t>
            </a:r>
            <a:r>
              <a:rPr sz="1400" b="0" baseline="-25000">
                <a:solidFill>
                  <a:srgbClr val="262626"/>
                </a:solidFill>
                <a:latin typeface="微软雅黑"/>
                <a:ea typeface="微软雅黑"/>
              </a:rPr>
              <a:t>0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 分散到几个模上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刻槽隔断相邻段无效：分裂来自段内汇流条区，而不是段间耦合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Shao 型同流程：25 µm 段约 2 倍，100 µm 段约 1.2 倍——不是本设计特有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功率链：L = 1 mm 约 3.26 mW（仿真）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pic>
        <p:nvPicPr>
          <p:cNvPr id="6" name="Picture 5" descr="fig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6949440" cy="291125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188720"/>
          <a:ext cx="409651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1993391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数值（仿真）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谐振频率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3.333 GHz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驱动 Q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1930–1970（假设损耗）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PπL（含梁）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2.87×10</a:t>
                      </a:r>
                      <a:r>
                        <a:rPr sz="1250" b="0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-6</a:t>
                      </a:r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W·m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信号源功率 Pπ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3.26 mW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乘校准系数后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5.5–17 mW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输入阻抗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53–57 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等效电压（负载端峰值）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0.57 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L = 2 mm（粗估）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约 1.8 mW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440680"/>
            <a:ext cx="11091672" cy="548640"/>
          </a:xfrm>
          <a:prstGeom prst="roundRect">
            <a:avLst>
              <a:gd name="adj" fmla="val 12000"/>
            </a:avLst>
          </a:prstGeom>
          <a:solidFill>
            <a:srgbClr val="F8E6E6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各环节在模型范围内没有发现阻断性问题；绝对数值不确定度为数倍（校准系数与 Q 均待实测）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工艺容差与段间失谐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91640"/>
                <a:gridCol w="1691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偏差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Δf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PπL 变化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膜厚 −10 / +10 nm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+4.2 / −4.4 MHz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+0.3% / −0.2%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刻蚀浅 / 深 10 nm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−0.1 / 0 MHz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+6.9% / −6.3%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周期 ±1%（±19 nm）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∓25 MHz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约 ±2%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54680"/>
            <a:ext cx="55778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主峰 FWHM 约 1.7 MHz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段间 1 MHz 失谐 ≈ 膜厚差 2.3 nm 或周期差 0.75 nm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周期由光刻一次定义，段间差应远小于 1 nm；主要看膜厚均匀性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188720"/>
          <a:ext cx="523951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582"/>
                <a:gridCol w="1194976"/>
                <a:gridCol w="1194976"/>
                <a:gridCol w="119497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接法（中位 / P90）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σ = 0.5 MHz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σ = 1 MHz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σ = 2 MHz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 串 × 5 并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1.10 / 1.20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1.27 / 1.47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1.71 / 2.38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 并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1.02 / 1.04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1.08 / 1.17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1.37 / 1.96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 串 × 2 并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1.06 / 1.14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1.20 / 1.67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2.05 / 2.92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154680"/>
            <a:ext cx="52120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7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数值为相对无失谐的功率倍数，L = 1 mm，每点 100 次随机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串联段电流相同、电压按阻抗分配，失谐段分到的电压不对；并联段自动均衡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F8E6E6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要把功率增量控制在约 30% 以内，需段间 σ 在 1 MHz 左右以内（膜厚差约 2.3 nm 以内）；不确定时用全并联（基准功率高约 20%）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光学：过渡、空气桥与引线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167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334"/>
                <a:gridCol w="4766668"/>
                <a:gridCol w="311666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仿真结果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结论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悬空 ↔ 普通波导过渡（二维模式匹配）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 = 0.99429，每个 0.025 dB；R = 6.5×10</a:t>
                      </a:r>
                      <a:r>
                        <a:rPr sz="1300" b="0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-6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 mm 两端共约 0.05 dB，不需锥形过渡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普通段 BOX 厚度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 / 4 µm 漏光可忽略；1 µm 时 0.55 dB/cm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BOX 需 ≥ 2 µm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空气桥（C 型走线）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桥底离脊顶 0.5 µm：每座约 4.4×10</a:t>
                      </a:r>
                      <a:r>
                        <a:rPr sz="1300" b="0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-5</a:t>
                      </a:r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dB；≥ 1 µm：与无桥相同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光学上不是障碍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引线轨（二维静电）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0.09–0.13 pF/mm，0.49–0.64 nH/mm，Z</a:t>
                      </a:r>
                      <a:r>
                        <a:rPr sz="1300" b="0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62–84 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影响主要来自串联电阻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引线代价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500 nm 铝、≥ 50 µm 轨：+3–4%；100 nm 薄窄轨：+10–17%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用厚引线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未覆盖：释放边缘的三维形貌（刻蚀斜面、底切、侧壁粗糙度散射）、光纤端面耦合——前者靠截断法实测，后者沿用成熟结构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实验数据现状：尚无实测，以下为计划测量项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167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667"/>
                <a:gridCol w="3575001"/>
                <a:gridCol w="1100000"/>
                <a:gridCol w="440000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物理量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仿真预测（本工作）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实测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计划测量方法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谐振频率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3.333 GHz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VNA 测 S11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驱动 Q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 2000（由假设损耗给出）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S11 半高宽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输入阻抗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53–57 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S11，引线去嵌入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信号源功率 Pπ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3.26 mW（校准后 5.5–17 mW）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相位调制边带比 / MZI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过渡与传播损耗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0.025 dB / 个；0.00053 dB/cm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不同悬空长度的截断法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 对周期斜率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−1.33 MHz/nm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周期系列（G3）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892040"/>
            <a:ext cx="11091672" cy="868680"/>
          </a:xfrm>
          <a:prstGeom prst="roundRect">
            <a:avLst>
              <a:gd name="adj" fmla="val 12000"/>
            </a:avLst>
          </a:prstGeom>
          <a:solidFill>
            <a:srgbClr val="F8E6E6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B53132"/>
                </a:solidFill>
                <a:latin typeface="微软雅黑"/>
                <a:ea typeface="微软雅黑"/>
              </a:rPr>
              <a:t>唯一引用的实验数据：Shao 等（Optica 2019）实测 VπL = 0.046 V·cm、Q 最高约 3600——仅用于校准本流程，</a:t>
            </a:r>
          </a:p>
          <a:p>
            <a:pPr algn="ctr"/>
            <a:r>
              <a:rPr sz="1200" b="0">
                <a:solidFill>
                  <a:srgbClr val="B53132"/>
                </a:solidFill>
                <a:latin typeface="微软雅黑"/>
                <a:ea typeface="微软雅黑"/>
              </a:rPr>
              <a:t>校准系数 1.7–5.3 需在本批工艺上用 Shao 复刻结构（G8）重新确定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覆盖范围与主要风险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167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334"/>
                <a:gridCol w="3483335"/>
                <a:gridCol w="2566667"/>
                <a:gridCol w="3208334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现状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可能影响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处理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绝对精度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校准系数 1.7–5.3；Q 为假设，功率 ∝ 1/Q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功率偏差数倍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流片后测 Q 与 Pπ，更新校准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机械可行性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未算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释放、塌陷、翘曲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需工艺侧应力与释放条件（A7）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工艺参数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膜厚、BOX、金属厚度、衬底均为假设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频率中心、引线损耗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参数到手 &lt; 1 小时重算（A3）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沿波导声学端部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未算</a:t>
                      </a:r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（三维为周期边界）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端部段响应、侧模、Q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有限长三维（A2，先估内存）；长度系列实测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斜侧壁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三维未做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Δn</a:t>
                      </a:r>
                      <a:r>
                        <a:rPr sz="1300" b="0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、f 的敏感度未知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A4，可后置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段间均匀性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未假设具体数值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σ &gt; 1 MHz 时功率明显上升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查晶圆规格；版图带全并联保底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查新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仅网页检索；Freedman 2025 最接近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新颖性论证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WoS / CNKI / 专利库全文（A8）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如果加入流片：操作流程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 选定代工与班车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92808"/>
            <a:ext cx="2514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MPW 截止日期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设计规则、掩模网格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139903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123444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 工艺参数确认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92808"/>
            <a:ext cx="2514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膜厚、BOX、金属厚度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薄膜应力、释放条件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43600" y="139903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3 按实际参数重算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92808"/>
            <a:ext cx="2514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A3（&lt;1 h）、A7 机械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视内存做 A2 / A5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78240" y="139903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123444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4 版图 GDS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892808"/>
            <a:ext cx="2514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主设计 + 变体 G1–G9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测试结构、对准标记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3756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5 DRC 与评审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95928"/>
            <a:ext cx="2514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代工厂规则检查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机械可行性确认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08960" y="350215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83280" y="333756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6 下单流片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995928"/>
            <a:ext cx="2514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同步准备测试平台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VNA、探针台、光路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43600" y="350215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333756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7 测试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95928"/>
            <a:ext cx="2514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S11 / 边带比 / 截断法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长度、周期系列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78240" y="3502152"/>
            <a:ext cx="237744" cy="237744"/>
          </a:xfrm>
          <a:prstGeom prst="rightArrow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52560" y="3337560"/>
            <a:ext cx="2514600" cy="566928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8 校准与二轮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995928"/>
            <a:ext cx="2514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实测 Q、Pπ 更新校准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定接法与二轮设计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12000"/>
            </a:avLst>
          </a:prstGeom>
          <a:solidFill>
            <a:srgbClr val="F8E6E6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下单前必须确认：机械可加工性（工艺侧）、BOX ≥ 2 µm、版图带全并联保底变体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版图变体建议（一次流片做成扫描）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167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00"/>
                <a:gridCol w="5133335"/>
                <a:gridCol w="2841668"/>
                <a:gridCol w="256666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组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变体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目的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仿真预测</a:t>
                      </a:r>
                    </a:p>
                  </a:txBody>
                  <a:tcPr marL="54864" marR="54864" marT="27432" marB="27432" anchor="ctr">
                    <a:solidFill>
                      <a:srgbClr val="B531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主设计：10 × 100 µm，2 串 × 5 并，汇流条 0.5 µm，周期 1.84 µm，梁 2 µm，500 nm 铝引线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基准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3.333 GHz；3.26 mW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G2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同几何，全并联（10 并）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失谐未知时保底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3.46–3.68 mW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周期系列：1.84 µm 为中心，步长约 2 nm，5 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测 f(p) 斜率，对准目标频率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−1.33 MHz/nm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G4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长度系列：0.1 / 0.2 / 0.5 / 1 / 2 mm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Pπ 随长度、端部效应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近似 ∝ 1/L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段长对照：25 / 50 / 100 µm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验证三维汇流条损失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3.4 / 2.0 / 1.44 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G6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汇流条 0.3 / 0.5 / 0.7 µm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线宽偏差余量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PπL 2.53 / 2.58 / 2.79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梁宽 1 / 2 / 4 µm；每段 / 每 2 段 / 每 5 段一根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机械良率与声学损失折中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每段一根 ×1.11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G8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Shao 2019 复刻结构（100 µm）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本批工艺上校准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PπL 2.36×10</a:t>
                      </a:r>
                      <a:r>
                        <a:rPr sz="1200" b="0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-6</a:t>
                      </a:r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W·m</a:t>
                      </a:r>
                    </a:p>
                  </a:txBody>
                  <a:tcPr marL="54864" marR="54864" marT="27432" marB="27432" anchor="ctr">
                    <a:solidFill>
                      <a:srgbClr val="F8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测试结构：无电极悬空波导、单叉指 S11、引线 open/short/thru、膜厚监测、电阻链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光学、电学参数分开测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过渡 0.025 dB / 个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具体档位受代工厂设计规则与掩模网格限制，待确认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测试方案与数据处理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电学（VNA）：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S11 → 谐振频率、Q（FWHM）、Re Y 与输入阻抗，与 3.333 GHz、53–57 Ω 比较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光学：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相位调制边带比或 MZI 偏置法 → Pπ（或 Vπ）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拆分：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G4 长度系列拆端部效应；G9 无电极波导扣除过渡与传播损耗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B53132"/>
                </a:solidFill>
                <a:latin typeface="微软雅黑"/>
                <a:ea typeface="微软雅黑"/>
              </a:rPr>
              <a:t>■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接法决策：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以 G1 与 G2 的差别判断实际段间失谐，决定 2 串 × 5 并还是全并联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30952" cy="548640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校准更新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330952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0">
                <a:solidFill>
                  <a:srgbClr val="262626"/>
                </a:solidFill>
                <a:latin typeface="微软雅黑"/>
                <a:ea typeface="微软雅黑"/>
              </a:rPr>
              <a:t>实测 Q 代入</a:t>
            </a:r>
          </a:p>
          <a:p>
            <a:pPr algn="ctr"/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PπL = ħω</a:t>
            </a:r>
            <a:r>
              <a:rPr sz="1700" b="0" baseline="30000">
                <a:solidFill>
                  <a:srgbClr val="262626"/>
                </a:solidFill>
                <a:latin typeface="微软雅黑"/>
                <a:ea typeface="微软雅黑"/>
              </a:rPr>
              <a:t>2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λ</a:t>
            </a:r>
            <a:r>
              <a:rPr sz="1700" b="0" baseline="30000">
                <a:solidFill>
                  <a:srgbClr val="262626"/>
                </a:solidFill>
                <a:latin typeface="微软雅黑"/>
                <a:ea typeface="微软雅黑"/>
              </a:rPr>
              <a:t>2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 / (4 Q L</a:t>
            </a:r>
            <a:r>
              <a:rPr sz="1700" b="0" baseline="-25000">
                <a:solidFill>
                  <a:srgbClr val="262626"/>
                </a:solidFill>
                <a:latin typeface="微软雅黑"/>
                <a:ea typeface="微软雅黑"/>
              </a:rPr>
              <a:t>a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 Δn</a:t>
            </a:r>
            <a:r>
              <a:rPr sz="1700" b="0" baseline="-25000">
                <a:solidFill>
                  <a:srgbClr val="262626"/>
                </a:solidFill>
                <a:latin typeface="微软雅黑"/>
                <a:ea typeface="微软雅黑"/>
              </a:rPr>
              <a:t>0</a:t>
            </a:r>
            <a:r>
              <a:rPr sz="1700" b="0" baseline="30000">
                <a:solidFill>
                  <a:srgbClr val="262626"/>
                </a:solidFill>
                <a:latin typeface="微软雅黑"/>
                <a:ea typeface="微软雅黑"/>
              </a:rPr>
              <a:t>2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)，L</a:t>
            </a:r>
            <a:r>
              <a:rPr sz="1700" b="0" baseline="-25000">
                <a:solidFill>
                  <a:srgbClr val="262626"/>
                </a:solidFill>
                <a:latin typeface="微软雅黑"/>
                <a:ea typeface="微软雅黑"/>
              </a:rPr>
              <a:t>a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 = 100 µm</a:t>
            </a:r>
          </a:p>
          <a:p>
            <a:pPr algn="ctr"/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反推 Δn</a:t>
            </a:r>
            <a:r>
              <a:rPr sz="1700" b="0" baseline="-25000">
                <a:solidFill>
                  <a:srgbClr val="262626"/>
                </a:solidFill>
                <a:latin typeface="微软雅黑"/>
                <a:ea typeface="微软雅黑"/>
              </a:rPr>
              <a:t>0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，与仿真比较</a:t>
            </a:r>
          </a:p>
          <a:p>
            <a:pPr algn="ctr"/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校准系数 1.7–5.3 由 Shao 结构得到，</a:t>
            </a:r>
          </a:p>
          <a:p>
            <a:pPr algn="ctr"/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需用 G8 在本批工艺上重新确定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20640"/>
            <a:ext cx="11091672" cy="548640"/>
          </a:xfrm>
          <a:prstGeom prst="roundRect">
            <a:avLst>
              <a:gd name="adj" fmla="val 12000"/>
            </a:avLst>
          </a:prstGeom>
          <a:solidFill>
            <a:srgbClr val="F8E6E6"/>
          </a:solidFill>
          <a:ln w="15875">
            <a:solidFill>
              <a:srgbClr val="DC5A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目标：把“仿真 3.26 mW、校准后 5.5–17 mW”收敛为一个实测值，并据此定二轮设计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04812"/>
            <a:ext cx="333829" cy="449830"/>
          </a:xfrm>
          <a:prstGeom prst="rect">
            <a:avLst/>
          </a:prstGeom>
          <a:solidFill>
            <a:srgbClr val="B5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1" y="404812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800" y="376666"/>
            <a:ext cx="969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时间安排（建议）</a:t>
            </a:r>
            <a:endParaRPr lang="zh-CN" altLang="en-US" sz="28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课题组内部工作稿｜器件数字均为 COMSOL 仿真预测，无实测、无流片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29000"/>
            <a:ext cx="11091672" cy="54864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592" y="3319272"/>
            <a:ext cx="274320" cy="274320"/>
          </a:xfrm>
          <a:prstGeom prst="ellipse">
            <a:avLst/>
          </a:prstGeom>
          <a:solidFill>
            <a:srgbClr val="B531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783080" cy="548640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工艺参数确认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783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2026.10下–11上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783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代工厂 / 班车；A3、A7；视内存 A2、A5</a:t>
            </a:r>
          </a:p>
        </p:txBody>
      </p:sp>
      <p:sp>
        <p:nvSpPr>
          <p:cNvPr id="11" name="Oval 10"/>
          <p:cNvSpPr/>
          <p:nvPr/>
        </p:nvSpPr>
        <p:spPr>
          <a:xfrm>
            <a:off x="3172968" y="3319272"/>
            <a:ext cx="274320" cy="274320"/>
          </a:xfrm>
          <a:prstGeom prst="ellipse">
            <a:avLst/>
          </a:prstGeom>
          <a:solidFill>
            <a:srgbClr val="B531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14016" y="3794760"/>
            <a:ext cx="1783080" cy="548640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版图 GDS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4389120"/>
            <a:ext cx="1783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2026.11中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4016" y="4800600"/>
            <a:ext cx="1783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主设计 + G1–G9；DRC</a:t>
            </a:r>
          </a:p>
        </p:txBody>
      </p:sp>
      <p:sp>
        <p:nvSpPr>
          <p:cNvPr id="15" name="Oval 14"/>
          <p:cNvSpPr/>
          <p:nvPr/>
        </p:nvSpPr>
        <p:spPr>
          <a:xfrm>
            <a:off x="5038344" y="3319272"/>
            <a:ext cx="274320" cy="274320"/>
          </a:xfrm>
          <a:prstGeom prst="ellipse">
            <a:avLst/>
          </a:prstGeom>
          <a:solidFill>
            <a:srgbClr val="B531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79392" y="1188720"/>
            <a:ext cx="1783080" cy="548640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评审与下单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1783080"/>
            <a:ext cx="1783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2026.11下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194560"/>
            <a:ext cx="1783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代工厂评审；机械可行性确认</a:t>
            </a:r>
          </a:p>
        </p:txBody>
      </p:sp>
      <p:sp>
        <p:nvSpPr>
          <p:cNvPr id="19" name="Oval 18"/>
          <p:cNvSpPr/>
          <p:nvPr/>
        </p:nvSpPr>
        <p:spPr>
          <a:xfrm>
            <a:off x="6903720" y="3319272"/>
            <a:ext cx="274320" cy="274320"/>
          </a:xfrm>
          <a:prstGeom prst="ellipse">
            <a:avLst/>
          </a:prstGeom>
          <a:solidFill>
            <a:srgbClr val="B531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44768" y="3794760"/>
            <a:ext cx="1783080" cy="548640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代工流片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4389120"/>
            <a:ext cx="1783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2026.12–2027.02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4800600"/>
            <a:ext cx="1783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周期按 2–3 个月假设；同期 A4、A6、A8，搭测试平台</a:t>
            </a:r>
          </a:p>
        </p:txBody>
      </p:sp>
      <p:sp>
        <p:nvSpPr>
          <p:cNvPr id="23" name="Oval 22"/>
          <p:cNvSpPr/>
          <p:nvPr/>
        </p:nvSpPr>
        <p:spPr>
          <a:xfrm>
            <a:off x="8769096" y="3319272"/>
            <a:ext cx="274320" cy="274320"/>
          </a:xfrm>
          <a:prstGeom prst="ellipse">
            <a:avLst/>
          </a:prstGeom>
          <a:solidFill>
            <a:srgbClr val="B531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10144" y="1188720"/>
            <a:ext cx="1783080" cy="548640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1783080"/>
            <a:ext cx="1783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2027.02–03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144" y="2194560"/>
            <a:ext cx="1783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电学 S11、光学 Pπ、截断法</a:t>
            </a:r>
          </a:p>
        </p:txBody>
      </p:sp>
      <p:sp>
        <p:nvSpPr>
          <p:cNvPr id="27" name="Oval 26"/>
          <p:cNvSpPr/>
          <p:nvPr/>
        </p:nvSpPr>
        <p:spPr>
          <a:xfrm>
            <a:off x="10634472" y="3319272"/>
            <a:ext cx="274320" cy="274320"/>
          </a:xfrm>
          <a:prstGeom prst="ellipse">
            <a:avLst/>
          </a:prstGeom>
          <a:solidFill>
            <a:srgbClr val="B531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19" y="3794760"/>
            <a:ext cx="1783080" cy="548640"/>
          </a:xfrm>
          <a:prstGeom prst="roundRect">
            <a:avLst>
              <a:gd name="adj" fmla="val 12000"/>
            </a:avLst>
          </a:prstGeom>
          <a:solidFill>
            <a:srgbClr val="B53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校准与二轮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4389120"/>
            <a:ext cx="1783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53132"/>
                </a:solidFill>
                <a:latin typeface="微软雅黑"/>
                <a:ea typeface="微软雅黑"/>
              </a:rPr>
              <a:t>2027.04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4800600"/>
            <a:ext cx="1783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更新校准系数；定接法；二轮设计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时间为建议值；代工周期与班车截止日期以代工厂为准。A2–A8 为报告中的仿真与核对任务编号。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  <p:tag name="KSO_WM_UNIT_PLACING_PICTURE_USER_VIEWPORT" val="{&quot;height&quot;:5753,&quot;width&quot;:5753}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PP_MARK_KEY" val="66a1f4b8-d904-467b-b951-f7556ffc55c3"/>
  <p:tag name="COMMONDATA" val="eyJjb3VudCI6MSwiaGRpZCI6Ijc4NWY2ZTUyZTQxMDNkOGMxMTk1Y2E0ZmQ2Zjg3MDkwIiwidXNlckNvdW50IjoxfQ=="/>
</p:tagLst>
</file>

<file path=ppt/theme/theme1.xml><?xml version="1.0" encoding="utf-8"?>
<a:theme xmlns:a="http://schemas.openxmlformats.org/drawingml/2006/main" name="小奕设计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B43132"/>
      </a:accent1>
      <a:accent2>
        <a:srgbClr val="ED0D45"/>
      </a:accent2>
      <a:accent3>
        <a:srgbClr val="B12524"/>
      </a:accent3>
      <a:accent4>
        <a:srgbClr val="D93E89"/>
      </a:accent4>
      <a:accent5>
        <a:srgbClr val="4472C4"/>
      </a:accent5>
      <a:accent6>
        <a:srgbClr val="6EAC46"/>
      </a:accent6>
      <a:hlink>
        <a:srgbClr val="0563C1"/>
      </a:hlink>
      <a:folHlink>
        <a:srgbClr val="954D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B43132"/>
    </a:accent1>
    <a:accent2>
      <a:srgbClr val="ED0D45"/>
    </a:accent2>
    <a:accent3>
      <a:srgbClr val="B12524"/>
    </a:accent3>
    <a:accent4>
      <a:srgbClr val="D93E89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B43132"/>
    </a:accent1>
    <a:accent2>
      <a:srgbClr val="ED0D45"/>
    </a:accent2>
    <a:accent3>
      <a:srgbClr val="B12524"/>
    </a:accent3>
    <a:accent4>
      <a:srgbClr val="D93E89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B43132"/>
    </a:accent1>
    <a:accent2>
      <a:srgbClr val="ED0D45"/>
    </a:accent2>
    <a:accent3>
      <a:srgbClr val="B12524"/>
    </a:accent3>
    <a:accent4>
      <a:srgbClr val="D93E89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B43132"/>
    </a:accent1>
    <a:accent2>
      <a:srgbClr val="ED0D45"/>
    </a:accent2>
    <a:accent3>
      <a:srgbClr val="B12524"/>
    </a:accent3>
    <a:accent4>
      <a:srgbClr val="D93E89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B43132"/>
    </a:accent1>
    <a:accent2>
      <a:srgbClr val="ED0D45"/>
    </a:accent2>
    <a:accent3>
      <a:srgbClr val="B12524"/>
    </a:accent3>
    <a:accent4>
      <a:srgbClr val="D93E89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B43132"/>
    </a:accent1>
    <a:accent2>
      <a:srgbClr val="ED0D45"/>
    </a:accent2>
    <a:accent3>
      <a:srgbClr val="B12524"/>
    </a:accent3>
    <a:accent4>
      <a:srgbClr val="D93E89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B43132"/>
    </a:accent1>
    <a:accent2>
      <a:srgbClr val="ED0D45"/>
    </a:accent2>
    <a:accent3>
      <a:srgbClr val="B12524"/>
    </a:accent3>
    <a:accent4>
      <a:srgbClr val="D93E89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2489</Words>
  <Application>WPS 演示</Application>
  <PresentationFormat>宽屏</PresentationFormat>
  <Paragraphs>283</Paragraphs>
  <Slides>28</Slides>
  <Notes>34</Notes>
  <HiddenSlides>20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1" baseType="lpstr">
      <vt:lpstr>Arial</vt:lpstr>
      <vt:lpstr>宋体</vt:lpstr>
      <vt:lpstr>Wingdings</vt:lpstr>
      <vt:lpstr>方正风雅宋简体</vt:lpstr>
      <vt:lpstr>方正黑体简体</vt:lpstr>
      <vt:lpstr>汉仪新蒂唐朝体</vt:lpstr>
      <vt:lpstr>等线</vt:lpstr>
      <vt:lpstr>微软雅黑</vt:lpstr>
      <vt:lpstr>思源黑体 CN Light</vt:lpstr>
      <vt:lpstr>微软雅黑 Light</vt:lpstr>
      <vt:lpstr>方正兰亭粗黑简体</vt:lpstr>
      <vt:lpstr>Impact</vt:lpstr>
      <vt:lpstr>Calibri</vt:lpstr>
      <vt:lpstr>Calibri Light</vt:lpstr>
      <vt:lpstr>Arial Unicode MS</vt:lpstr>
      <vt:lpstr>Impact</vt:lpstr>
      <vt:lpstr>思源黑体 CN Normal</vt:lpstr>
      <vt:lpstr>黑体</vt:lpstr>
      <vt:lpstr>思源黑体 CN Light</vt:lpstr>
      <vt:lpstr>思源黑体</vt:lpstr>
      <vt:lpstr>方正正中黑简体</vt:lpstr>
      <vt:lpstr>Times New Roman</vt:lpstr>
      <vt:lpstr>小奕设计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小奕</dc:creator>
  <dc:description>版权归小奕所有，盗版必究</dc:description>
  <cp:lastModifiedBy>Ren</cp:lastModifiedBy>
  <cp:revision>50</cp:revision>
  <dcterms:created xsi:type="dcterms:W3CDTF">2019-04-27T15:31:00Z</dcterms:created>
  <dcterms:modified xsi:type="dcterms:W3CDTF">2024-01-05T06:51:15Z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KSOTemplateUUID">
    <vt:lpwstr>v1.0_mb_/3hAs5ln00t7ZijixkvaTg==</vt:lpwstr>
  </property>
  <property fmtid="{D5CDD505-2E9C-101B-9397-08002B2CF9AE}" pid="4" name="ICV">
    <vt:lpwstr>4B8DDDC23260474BA0D662A67DFE4EC8</vt:lpwstr>
  </property>
</Properties>
</file>